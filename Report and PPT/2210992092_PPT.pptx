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257" r:id="rId6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68" r:id="rId7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18" d="100"/>
          <a:sy n="118" d="100"/>
        </p:scale>
        <p:origin x="-1482" y="-1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handoutMasters/_rels/handout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xmlns="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 xml:space="preserve">Project Presentation of </a:t>
            </a:r>
            <a:r>
              <a:rPr lang="en-US" b="1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 xml:space="preserve">CO-OP Project at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 xml:space="preserve">Industry (Module-2) </a:t>
            </a:r>
            <a:r>
              <a:rPr lang="en-IN" b="1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  <a:endParaRPr lang="en-IN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4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Engineering Fairness: Mitigating Algorithmic Bias in ML-Based Applicant Tracking Systems</a:t>
            </a:r>
            <a:endParaRPr lang="en-US" sz="2000" i="1" spc="-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/>
            </a: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Prince Thakur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Roll Number: 2210992092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Dr. Isha Kansal, Assistant Professor (Supervisor, Chitkara University)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 xml:space="preserve"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 xml:space="preserve"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Introduction &amp; Problem Statement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Background &amp; Related Work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Methodology Overview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Dataset Description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Fairness Standard: The EEOC Four-Fifths Rule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Bias Mitigation: Re-Weighing Algorithm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Experimental Results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Discussion &amp; Limitations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Conclusion &amp; Future Work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3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ML-based Applicant Tracking Systems (ATS) are widely used in modern hiring pipelines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Problem: Systems learn from historical hiring data that already contains human bias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They repeat discriminatory patterns - a black box affecting career outcomes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Proxy variables (postal code, university tier, resume gaps) act as demographic surrogates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Real-world impact: Amazon's AI hiring tool penalised female applicants for years (Reuters, 2018)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Legal stakes: EEOC holds employers responsible for discriminatory outcomes even if unintentional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paper proposes an auditable framework to detect and correct bias before it causes harm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 and Related Work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Evolution of ATS Systems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Keyword-based (simple, interpretable) to ML-based (higher accuracy, harder to audit)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Post-processing Fairness: Adjust decision thresholds per group (Hardt et al., 2016)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Limitation: Does not fix skewed training data representations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Pre-processing Fairness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Re-weigh training samples to compensate for historical bias (Kamiran and Calders, 2012)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Build fairness constraints into the learning objective (Zafar et al., 2017)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Research Gap: No prior study uses the EEOC four-fifths rule as a live trigger in a Random Forest hiring pipeline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Overview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Classifier: Random Forest - chosen for high accuracy and wide adoption in ATS platforms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End-to-End Pipeline (iterative loop):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Raw Data - Feature Engineering - DI Calculation - Re-Weigh if DI less than 0.80 - Fair-RF - Output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Key design choice: Pre-processing is classifier-agnostic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Any downstream model benefits without modifying its architecture or training objective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Iterative loop prevents under- or over-correction from single-pass fixes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 score and accuracy logged each cycle, providing an auditable compliance trail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Source: Public HR analytics repository | Size: 10,847 historical job applications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18 Features: years of experience, education level, resume gap length (months), university tier (1-5), skill match score, hiring decision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Protected Attribute: Gender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61.3% male applicants | 38.7% female applicants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Train / Test Split: 80 / 20 with preserved group ratios in both sets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Proxy Elimination: Features with Pearson correlation greater than 0.40 with gender were removed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Dropped: postal code region, university prestige tier, resume gap duration (p less than 0.01)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Fairness Standard: EEOC Four-Fifths Rule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Definition: If minority selection rate is less than 80% of majority rate, adverse impact is indicated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Disparate Impact Formula: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 = Selection Rate (Minority) / Selection Rate (Majority)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 less than 0.80 triggers Re-Weighing automatically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Baseline Findings: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Majority Selection Rate = 50% | Minority Selection Rate = 31%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 = 0.62 - well below the 0.80 legal threshold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The DI check acts as a live compliance gate after every training cycle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 Mitigation: Re-Weighing Algorithm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Approach: Assign higher weights to minority-hired records; lower weights to bias-influenced outcomes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Weight Formula: W(G, Y) = [P(G) x P(Y)] / P(G, Y)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 = candidate group | Y = hiring outcome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When W greater than 1.0, that record is amplified during training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Model pays more attention to minority candidates who were genuinely successful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Proxy Elimination: Pearson correlation greater than 0.40 with gender triggers feature removal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Dropped: postal code, university prestige tier, resume gap duration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Result: Iterative convergence from DI = 0.62 to DI = 0.84 over 5 training cycles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Results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Test set: 2,170 held-out applications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Uncorrected RF: Accuracy 92.1%, F1-Score 0.89, DI Score 0.62 (NON-COMPLIANT)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Fair-RF (Proposed): Accuracy 90.4%, F1-Score 0.88, DI Score 0.84 (COMPLIANT)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 improved from 0.62 to 0.84, crossing the 0.80 EEOC legal compliance threshold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Accuracy drop of only 1.7% is bias-removal noise, not genuine performance loss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F1-Scores near-identical (0.89 vs 0.88) confirming model still identifies good candidates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 Convergence: Iter 1: 0.62 | Iter 2: 0.71 | Iter 3: 0.77 | Iter 4: 0.81 | Iter 5: 0.84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Accuracy: 91.9% | 91.4% | 90.9% | 90.5% | 90.4%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 and Limitations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Key Insight: High accuracy on biased data partly measures how well the model replicates the bias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F1-Score stability (0.89 to 0.88) confirms no genuine loss in identifying qualified candidates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Practical Advantage: Re-weighing is classifier-agnostic - plug in front of any vendor model without changes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Current Limitations: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Gender treated as binary; fairness evaluated along a single demographic axis at a time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Correcting one axis may inadvertently amplify disparities along another (intersectional problem)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Next Steps: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Extend DI calculation to multi-attribute intersectionality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Add SHAP values for candidate-level explainability (EU AI Act transparency compliance)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Work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Demonstrated that ML-based hiring can be made legally fair without sacrificing accuracy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Fair-RF achieved DI = 0.84 (above 0.80 EEOC threshold) with only 1.7% accuracy drop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Near-identical F1-Scores (0.89 vs 0.88) confirm the model still identifies qualified candidates effectively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HR teams can apply re-weighing to their existing pipeline without overhauling infrastructure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Future Work: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SHAP-based candidate score explainability for EU AI Act compliance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Intersectional fairness covering multiple demographic axes simultaneously</a:t>
            </a:r>
          </a:p>
          <a:p>
            <a:pPr marL="914400" lvl="0" indent="-317500">
              <a:buClr>
                <a:srgbClr val="000000"/>
              </a:buClr>
              <a:buSzPts val="1200"/>
              <a:buChar char="○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Extension to university admissions, healthcare resource allocation, and credit scoring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customXml/_rels/item1.xml.rels><?xml version="1.0" encoding="UTF-8"?>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?>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?>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34701</TotalTime>
  <Words>44</Words>
  <Application>Microsoft Office PowerPoint</Application>
  <PresentationFormat>On-screen Show (4:3)</PresentationFormat>
  <Paragraphs>30</Paragraphs>
  <Slides>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PowerPoint Presentation</vt:lpstr>
      <vt:lpstr>PowerPoint Presentation</vt:lpstr>
    </vt:vector>
  </TitlesOfParts>
  <Company>CCC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isha</cp:lastModifiedBy>
  <cp:revision>2300</cp:revision>
  <dcterms:created xsi:type="dcterms:W3CDTF">2010-04-09T07:36:15Z</dcterms:created>
  <dcterms:modified xsi:type="dcterms:W3CDTF">2026-04-28T05:25:30Z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